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900" b="0" i="0" u="none" strike="noStrike">
                <a:solidFill>
                  <a:srgbClr val="1F3864"/>
                </a:solidFill>
                <a:latin typeface="Arial"/>
              </a:rPr>
              <a:t>Revenue &amp; EBITDA (Rs.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(Rs. Cr)</c:v>
                </c:pt>
              </c:strCache>
            </c:strRef>
          </c:tx>
          <c:spPr>
            <a:solidFill>
              <a:srgbClr val="2F54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FY2022A</c:v>
                </c:pt>
                <c:pt idx="1">
                  <c:v>FY2023A</c:v>
                </c:pt>
                <c:pt idx="2">
                  <c:v>FY2024A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</c:v>
                </c:pt>
                <c:pt idx="1">
                  <c:v>163</c:v>
                </c:pt>
                <c:pt idx="2">
                  <c:v>224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1-CB4B-A6F7-5F8C0EFFCB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(Rs. Cr)</c:v>
                </c:pt>
              </c:strCache>
            </c:strRef>
          </c:tx>
          <c:spPr>
            <a:solidFill>
              <a:srgbClr val="C9A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FY2022A</c:v>
                </c:pt>
                <c:pt idx="1">
                  <c:v>FY2023A</c:v>
                </c:pt>
                <c:pt idx="2">
                  <c:v>FY2024A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8.4</c:v>
                </c:pt>
                <c:pt idx="1">
                  <c:v>16.3</c:v>
                </c:pt>
                <c:pt idx="2">
                  <c:v>26.9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41-CB4B-A6F7-5F8C0EFFCB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900" b="0" i="0" u="none" strike="noStrike">
                <a:solidFill>
                  <a:srgbClr val="1F3864"/>
                </a:solidFill>
                <a:latin typeface="Arial"/>
              </a:rPr>
              <a:t>Margin Trends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ln w="25400" cap="flat">
              <a:solidFill>
                <a:srgbClr val="2F549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F5496"/>
              </a:solidFill>
              <a:ln w="9525" cap="flat">
                <a:solidFill>
                  <a:srgbClr val="2F549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FY2022A</c:v>
                </c:pt>
                <c:pt idx="1">
                  <c:v>FY2023A</c:v>
                </c:pt>
                <c:pt idx="2">
                  <c:v>FY2024A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41.5</c:v>
                </c:pt>
                <c:pt idx="2">
                  <c:v>43.8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01-1E4A-8141-7FA79271EC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Margin %</c:v>
                </c:pt>
              </c:strCache>
            </c:strRef>
          </c:tx>
          <c:spPr>
            <a:ln w="25400" cap="flat">
              <a:solidFill>
                <a:srgbClr val="C9A9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94A"/>
              </a:solidFill>
              <a:ln w="9525" cap="flat">
                <a:solidFill>
                  <a:srgbClr val="C9A94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FY2022A</c:v>
                </c:pt>
                <c:pt idx="1">
                  <c:v>FY2023A</c:v>
                </c:pt>
                <c:pt idx="2">
                  <c:v>FY2024A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7.5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01-1E4A-8141-7FA79271ECE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PAT Margin %</c:v>
                </c:pt>
              </c:strCache>
            </c:strRef>
          </c:tx>
          <c:spPr>
            <a:ln w="25400" cap="flat">
              <a:solidFill>
                <a:srgbClr val="2A80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8050"/>
              </a:solidFill>
              <a:ln w="9525" cap="flat">
                <a:solidFill>
                  <a:srgbClr val="2A805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86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FY2022A</c:v>
                </c:pt>
                <c:pt idx="1">
                  <c:v>FY2023A</c:v>
                </c:pt>
                <c:pt idx="2">
                  <c:v>FY2024A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1.9</c:v>
                </c:pt>
                <c:pt idx="1">
                  <c:v>4</c:v>
                </c:pt>
                <c:pt idx="2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401-1E4A-8141-7FA79271EC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7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585406-476A-C94C-B912-8BE23A0DAFC7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8A8465-69DE-9343-850B-FC0B440A25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0"/>
            <a:ext cx="50292" cy="5143500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Consumer Sciences Ltd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6184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Initial Public Offering  |  NSE &amp; BSE Main 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5394960" cy="0"/>
          </a:xfrm>
          <a:prstGeom prst="line">
            <a:avLst/>
          </a:prstGeom>
          <a:noFill/>
          <a:ln w="1524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 Size: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77440" y="2121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300 Crore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45059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Issue: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377440" y="24505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200 Crore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7797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for Sale: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377440" y="27797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100 Crore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37744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 | BSE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43814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3438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F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46520" y="411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30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446520" y="667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Mukul</a:t>
            </a:r>
            <a:r>
              <a:rPr lang="en-IN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Suyal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46520" y="1078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Galgotias University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46520" y="12984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 FIA  |  CFA Level I Candidate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37960" y="1572768"/>
            <a:ext cx="2377440" cy="0"/>
          </a:xfrm>
          <a:prstGeom prst="line">
            <a:avLst/>
          </a:prstGeom>
          <a:noFill/>
          <a:ln w="6350">
            <a:solidFill>
              <a:srgbClr val="3A5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73952" y="1691640"/>
            <a:ext cx="1207008" cy="804672"/>
          </a:xfrm>
          <a:prstGeom prst="rect">
            <a:avLst/>
          </a:prstGeom>
          <a:solidFill>
            <a:srgbClr val="253F6A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73952" y="175564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73952" y="219456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CAGR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772400" y="1691640"/>
            <a:ext cx="1207008" cy="804672"/>
          </a:xfrm>
          <a:prstGeom prst="rect">
            <a:avLst/>
          </a:prstGeom>
          <a:solidFill>
            <a:srgbClr val="253F6A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0" y="175564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72400" y="219456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473952" y="2606040"/>
            <a:ext cx="1207008" cy="804672"/>
          </a:xfrm>
          <a:prstGeom prst="rect">
            <a:avLst/>
          </a:prstGeom>
          <a:solidFill>
            <a:srgbClr val="253F6A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73952" y="267004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72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3952" y="310896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 avg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72400" y="2606040"/>
            <a:ext cx="1207008" cy="804672"/>
          </a:xfrm>
          <a:prstGeom prst="rect">
            <a:avLst/>
          </a:prstGeom>
          <a:solidFill>
            <a:srgbClr val="253F6A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0" y="267004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72400" y="310896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Mix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57200" y="485089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FinOrbits IB Simulation Season 1  |  April 2026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Consumer Sciences Ltd — Proposed IPO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68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868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Consumer Sciences Ltd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12344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Public Offering (IPO)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859536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" y="1600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77440" y="16002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Stock Exchange (NSE) &amp; Bombay Stock Exchange (BSE)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901952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19659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Issue Size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1965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300 Crore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267712"/>
            <a:ext cx="859536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7472" y="23317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Issue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23317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200 Crore  |  Expansion Rs. 120 Cr  |  R&amp;D Rs. 50 Cr  |  Debt Repayment Rs. 30 Cr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633472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26974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for Sale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26974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100 Crore  —  Existing investor exit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859536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Pre-IPO Shares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377440" y="30632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Crore shares outstanding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Manager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377440" y="3429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FinOrbits Capital Markets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730752"/>
            <a:ext cx="859536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" y="37947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Price Band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3794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 – Rs. 52 per share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096512"/>
            <a:ext cx="8595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7472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77440" y="41605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 —  ~15% upside to base-case intrinsic value Rs. 44.4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Consumer Sciences Ltd — India's D2C Wellness Champion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5029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804672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</a:rPr>
              <a:t>AURA Consumer Sciences Ltd  </a:t>
            </a:r>
            <a:r>
              <a:rPr lang="en-US" sz="800" dirty="0">
                <a:solidFill>
                  <a:srgbClr val="1A1A2E"/>
                </a:solidFill>
              </a:rPr>
              <a:t>Bengaluru-based D2C health &amp; wellness company founded 2018 by Meera Iyer (ex-McKinsey, IIM-A Gold Medallist). 380 employees. Revenue through owned website, Blinkit/Swiggy Instamart, and ~800 modern trade outlets.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50292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42646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28800" y="142646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94760" y="14264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Mix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572000" y="142646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Mg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74320" y="1645920"/>
            <a:ext cx="5029200" cy="274320"/>
          </a:xfrm>
          <a:prstGeom prst="rect">
            <a:avLst/>
          </a:prstGeom>
          <a:solidFill>
            <a:srgbClr val="F4F8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1700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Cold-Pressed Juices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828800" y="17007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Pure, Detox, Immunity (12 SKUs)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3794760" y="17007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4572000" y="170078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74320" y="1920240"/>
            <a:ext cx="50292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0040" y="19751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Snack Bars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1828800" y="19751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Crunch, Lite (18 SKUs)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3794760" y="19751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572000" y="19751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274320" y="2194560"/>
            <a:ext cx="5029200" cy="274320"/>
          </a:xfrm>
          <a:prstGeom prst="rect">
            <a:avLst/>
          </a:prstGeom>
          <a:solidFill>
            <a:srgbClr val="F4F8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22494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Supplements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828800" y="22494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Whey, Vegan, Collagen (8 SKUs)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3794760" y="22494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4572000" y="224942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274320" y="2468880"/>
            <a:ext cx="502920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5237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Combos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828800" y="25237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boxes (6 variants)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3794760" y="25237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572000" y="252374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274320" y="27889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</a:rPr>
              <a:t>Revenue Channel Mix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160020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3044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274320" y="34107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Website (D2C)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993392" y="3017520"/>
            <a:ext cx="1600200" cy="77724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993392" y="3044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993392" y="34107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12464" y="3017520"/>
            <a:ext cx="1600200" cy="777240"/>
          </a:xfrm>
          <a:prstGeom prst="rect">
            <a:avLst/>
          </a:prstGeom>
          <a:solidFill>
            <a:srgbClr val="5070A0"/>
          </a:solidFill>
          <a:ln w="12700">
            <a:solidFill>
              <a:srgbClr val="5070A0"/>
            </a:solidFill>
            <a:prstDash val="solid"/>
          </a:ln>
          <a:effectLst>
            <a:outerShdw blurRad="381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712464" y="30449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3712464" y="341071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Trade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40680" y="777240"/>
            <a:ext cx="1783080" cy="1170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40680" y="9144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41.4%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40680" y="1435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CAGR FY22-24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0" y="777240"/>
            <a:ext cx="1783080" cy="117043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315200" y="9144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15200" y="143560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Mg FY24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40680" y="2103120"/>
            <a:ext cx="1783080" cy="1170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440680" y="2240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Rs.224 Cr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5440680" y="27614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FY24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315200" y="2103120"/>
            <a:ext cx="1783080" cy="117043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315200" y="224028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72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7315200" y="27614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45 FMCG avg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40680" y="3429000"/>
            <a:ext cx="1783080" cy="1170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440680" y="35661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Rs.22,000 Cr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40680" y="4087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SAM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15200" y="3429000"/>
            <a:ext cx="1783080" cy="117043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315200" y="356616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7315200" y="408736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Stake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D2C Wellness Market — Structural Growth Tailwinds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788920" cy="10972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2,20,000 Cr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74320" y="13350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Wellness TAM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5819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Health &amp; Wellness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8892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822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22,000 Cr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0" y="13350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Wellness SAM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0" y="15819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 CAGR through FY28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777240"/>
            <a:ext cx="2788920" cy="109728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82296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65,000 Cr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126480" y="1335024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2/3 Opportunity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15819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unserved by AURA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" y="19933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</a:rPr>
              <a:t>5 Key Growth Drivers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286000"/>
            <a:ext cx="27889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2286000"/>
            <a:ext cx="2788920" cy="36576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2359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Health Shift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25877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millennial &amp; Gen-Z health consciousness; supplement penetration growing rapidly among 25-40 age cohort across Tier 1 cities.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218688" y="2286000"/>
            <a:ext cx="27889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18688" y="2286000"/>
            <a:ext cx="2788920" cy="36576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10128" y="2359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Quick-Commerce Infrastructure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25877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 &amp; Swiggy Instamart enable same-day delivery of perishable wellness products — removes the key convenience barrier for D2C.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163056" y="2286000"/>
            <a:ext cx="27889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63056" y="2286000"/>
            <a:ext cx="2788920" cy="36576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2359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Premiumisation Wave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54496" y="25877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expanding middle class (350M+ households by 2030) trading up from mass FMCG to premium D2C brands.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274320" y="3429000"/>
            <a:ext cx="27889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3429000"/>
            <a:ext cx="2788920" cy="36576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502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Workforce Growth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37307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female workforce participation driving demand for convenient, science-backed nutrition. Core AURA consumer demographic.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218688" y="3429000"/>
            <a:ext cx="278892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18688" y="3429000"/>
            <a:ext cx="2788920" cy="36576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10128" y="3502152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Discovery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0128" y="373075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Instagram/influencer-driven brand discovery replacing traditional advertising — structural advantage for asset-light D2C brands like AURA.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HIGHLIGHTS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Reasons to Subscribe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88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02336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868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Leadership — Rs. 22,000 Cr Market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49808" y="1170432"/>
            <a:ext cx="2203704" cy="0"/>
          </a:xfrm>
          <a:prstGeom prst="line">
            <a:avLst/>
          </a:prstGeom>
          <a:noFill/>
          <a:ln w="1016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1234440"/>
            <a:ext cx="2240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is the category-defining D2C wellness brand in India — analogous to Mamaearth in personal care. 19% sector CAGR through FY28 provides structural tailwind. NPS 72 vs FMCG avg 45 confirms brand leadership.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18688" y="804672"/>
            <a:ext cx="2788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804672"/>
            <a:ext cx="402336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18688" y="137160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94176" y="868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450bps Margin Expansion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94176" y="1170432"/>
            <a:ext cx="2203704" cy="0"/>
          </a:xfrm>
          <a:prstGeom prst="line">
            <a:avLst/>
          </a:prstGeom>
          <a:noFill/>
          <a:ln w="1016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94176" y="1234440"/>
            <a:ext cx="2240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margins grew 7.5% (FY22) to 12.0% (FY24). Management guides 13%+ FY25. Model projects 14.8% by FY29 driven by D2C mix shift, SKU rationalisation, and operating leverage.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63056" y="804672"/>
            <a:ext cx="2788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63056" y="804672"/>
            <a:ext cx="402336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63056" y="137160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38544" y="868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— 68% D2C Revenue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638544" y="1170432"/>
            <a:ext cx="2203704" cy="0"/>
          </a:xfrm>
          <a:prstGeom prst="line">
            <a:avLst/>
          </a:prstGeom>
          <a:noFill/>
          <a:ln w="1016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638544" y="1234440"/>
            <a:ext cx="2240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FMCG, AURA earns 68% of revenue through owned channels. This provides gross margin premium of 400-500bps, real-time consumer data, and lower working capital requirements.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746504" y="2724912"/>
            <a:ext cx="2788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46504" y="2724912"/>
            <a:ext cx="402336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46504" y="329184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21992" y="27889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 ROE Expansion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21992" y="3090672"/>
            <a:ext cx="2203704" cy="0"/>
          </a:xfrm>
          <a:prstGeom prst="line">
            <a:avLst/>
          </a:prstGeom>
          <a:noFill/>
          <a:ln w="1016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21992" y="3154680"/>
            <a:ext cx="2240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manufacturing keeps capex low (3.5-4% forward). ROE expanded from 3.0% (FY22) to 12.0% (FY24) — +900bps. Post-IPO Rs. 30 Cr debt repayment further improves ROCE immediately.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90872" y="2724912"/>
            <a:ext cx="27889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90872" y="2724912"/>
            <a:ext cx="402336" cy="16276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90872" y="3291840"/>
            <a:ext cx="402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66360" y="278892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Proceeds Fund 3x TAM Opportunity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166360" y="3090672"/>
            <a:ext cx="2203704" cy="0"/>
          </a:xfrm>
          <a:prstGeom prst="line">
            <a:avLst/>
          </a:prstGeom>
          <a:noFill/>
          <a:ln w="1016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3154680"/>
            <a:ext cx="22402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200 Cr fresh issue funds Tier 2/3 city expansion (Rs. 65,000 Cr TAM, currently zero AURA presence). Successful execution = 3x increase in addressable market from current Rs. 22,000 Cr SAM.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TEAM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team with deep sector and capital markets expertise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788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788920" cy="7132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138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Iyer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5448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Ex-McKinsey &amp; Company (Consumer &amp; Retail, 5 yrs)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Gold Medallist — IIM Ahmedabad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IIT Bombay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AURA 2018; scaled to 380 employees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61% pre-IPO equity stake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18688" y="777240"/>
            <a:ext cx="2788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18688" y="777240"/>
            <a:ext cx="2788920" cy="713232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8138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Mehta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28416" y="155448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years — Kotak Investment Banking (Consumer IPOs)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Chartered Accountant (ICAI)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B.Com — SRCC, Delhi University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2021; led AURA's IPO readiness programme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all financial strategy and IR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63056" y="777240"/>
            <a:ext cx="278892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63056" y="777240"/>
            <a:ext cx="2788920" cy="713232"/>
          </a:xfrm>
          <a:prstGeom prst="rect">
            <a:avLst/>
          </a:prstGeom>
          <a:solidFill>
            <a:srgbClr val="2A5580"/>
          </a:solidFill>
          <a:ln w="12700">
            <a:solidFill>
              <a:srgbClr val="2A5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81381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Nair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1152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Growth Officer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72784" y="1554480"/>
            <a:ext cx="257860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 — Hindustan Unilever (Skincare &amp; Nutrition)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 — IIM Bangalore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India 30 Under 30 Consumer, 2023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D2C channel, brand, and marketing strategy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for AURA's 68% D2C revenue mix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FINANCIAL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FY2022A – FY2024A  |  41.4% Revenue CAGR with consistent margin expansion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804672"/>
          <a:ext cx="45720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937760" y="804672"/>
          <a:ext cx="39319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794760"/>
            <a:ext cx="1627632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274320" y="38313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224 Cr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432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Revenue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2011680" y="3794760"/>
            <a:ext cx="1627632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2011680" y="38313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26.9 Cr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01168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EBITDA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749040" y="3794760"/>
            <a:ext cx="1627632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749040" y="38313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74904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486400" y="3794760"/>
            <a:ext cx="1627632" cy="685800"/>
          </a:xfrm>
          <a:prstGeom prst="rect">
            <a:avLst/>
          </a:prstGeom>
          <a:solidFill>
            <a:srgbClr val="2F5496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5486400" y="38313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48640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7223760" y="3794760"/>
            <a:ext cx="1627632" cy="685800"/>
          </a:xfrm>
          <a:prstGeom prst="rect">
            <a:avLst/>
          </a:prstGeom>
          <a:solidFill>
            <a:srgbClr val="2F5496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223760" y="383133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13.4 Cr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7223760" y="4133088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FY24 PAT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26" name="Text 22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FY2025E – FY2029E  |  All assumptions documented and CIM-sourced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3703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Rs. Crore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FY2024A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FY2025E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FY2026E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FY2027E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FY2028E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FY2029E</a:t>
                      </a:r>
                      <a:endParaRPr lang="en-US" sz="85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Revenue (Rs. Cr)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291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459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556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656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 YoY Growth 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37.4%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27.0%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21.0%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Gross Profit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167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209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 Gross Margin 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43.8%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44.5%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46.0%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46.3%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EBITDA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26.9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37.8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50.0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64.2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80.6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97.1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 EBITDA Margin 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14.8%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EBIT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24.3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34.3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45.6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59.2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74.5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90.5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PAT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13.4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24.7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33.4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43.9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56.6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68.7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 PAT Margin 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9.6%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10.2%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FCFF (Rs. Cr)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~13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~19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~26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~36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~47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54456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 Rev growth 30%→18%; EBITDA margin 13.0%→14.8%; Tax 25%; Capex 3.5-4.0%; Debtor 36→32 days; Creditor 75→78 days; Inventory 50→46 days. All sourced from CIM.</a:t>
            </a:r>
            <a:endParaRPr lang="en-US" sz="700" dirty="0"/>
          </a:p>
        </p:txBody>
      </p:sp>
      <p:sp>
        <p:nvSpPr>
          <p:cNvPr id="7" name="Shape 6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Cash Flow Analysis  |  WACC 14.1%  |  Terminal Growth 6.5%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777240"/>
            <a:ext cx="27432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COMPONENTS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114300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(Rf)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389888" y="114300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7.20%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947672" y="11430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10-yr G-Sec (RBI Apr-26)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74320" y="1412748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14767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Risk Premium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389888" y="147675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8.10%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47672" y="14767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Damodaran India, Jan 2026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74320" y="1746504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" y="181051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(Levered)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389888" y="181051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47672" y="181051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median 0.95 re-levered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74320" y="2080260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8328" y="214426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Equity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89888" y="214426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47672" y="214426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Rf + Beta × ERP (CAPM)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74320" y="2414016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" y="247802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Debt (pre-tax)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389888" y="247802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47672" y="24780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Int/Avg Debt FY24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274320" y="2747772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8328" y="281178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After-tax Cost of Debt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389888" y="28117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47672" y="281178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9.0% × (1 – 25%)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74320" y="3081528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" y="314553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Weight D/V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389888" y="314553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47672" y="314553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Post-IPO conservative target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274320" y="3415284"/>
            <a:ext cx="274320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38328" y="347929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Weight E/V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389888" y="34792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82.5%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947672" y="347929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– D/V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274320" y="3749040"/>
            <a:ext cx="2743200" cy="329184"/>
          </a:xfrm>
          <a:prstGeom prst="rect">
            <a:avLst/>
          </a:prstGeom>
          <a:solidFill>
            <a:srgbClr val="EBF3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38328" y="3813048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389888" y="381304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947672" y="38130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Ke×E/V + Kd(1-t)×D/V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274320" y="4082796"/>
            <a:ext cx="2743200" cy="329184"/>
          </a:xfrm>
          <a:prstGeom prst="rect">
            <a:avLst/>
          </a:prstGeom>
          <a:solidFill>
            <a:srgbClr val="FFF5D0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8328" y="4146804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Growth (g)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389888" y="414680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947672" y="414680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nominal long-run GDP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154680" y="777240"/>
            <a:ext cx="57150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154680" y="777240"/>
            <a:ext cx="5715000" cy="292608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200400" y="822960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EV-TO-EQUITY BRIDGE  &amp;  IMPLIED PRICE PER SHARE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154680" y="1106424"/>
            <a:ext cx="5715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24612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PV of FCFs (FY25-29)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86600" y="118872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~79 Cr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54680" y="1453896"/>
            <a:ext cx="5715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24612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PV of Terminal Value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086600" y="153619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~228 Cr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154680" y="1801368"/>
            <a:ext cx="571500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46120" y="1883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 (DCF)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7086600" y="188366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~307 Cr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154680" y="2148840"/>
            <a:ext cx="5715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246120" y="2231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Net Debt (Post-IPO)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086600" y="223113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(–16 Cr) net cash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3154680" y="2496312"/>
            <a:ext cx="571500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24612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086600" y="25786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~323 Cr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154680" y="2843784"/>
            <a:ext cx="5715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246120" y="2926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Pre-IPO Shares Outstanding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086600" y="292608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Crore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154680" y="3191256"/>
            <a:ext cx="571500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324612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 Per Share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086600" y="327355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~32.3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154680" y="3538728"/>
            <a:ext cx="5715000" cy="347472"/>
          </a:xfrm>
          <a:prstGeom prst="rect">
            <a:avLst/>
          </a:prstGeom>
          <a:solidFill>
            <a:srgbClr val="EBF3FF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3246120" y="36210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Price Band (±10%)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086600" y="362102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2F5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29 – Rs. 36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154680" y="3886200"/>
            <a:ext cx="5715000" cy="347472"/>
          </a:xfrm>
          <a:prstGeom prst="rect">
            <a:avLst/>
          </a:prstGeom>
          <a:solidFill>
            <a:srgbClr val="FFF5D0"/>
          </a:solidFill>
          <a:ln w="3810">
            <a:solidFill>
              <a:srgbClr val="E8E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246120" y="3968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Band (incl. premium)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086600" y="3968496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 – Rs. 52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3200400" y="4279392"/>
            <a:ext cx="5577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i="1" dirty="0">
                <a:solidFill>
                  <a:srgbClr val="66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Recommended band Rs. 40-52 reflects a premium to DCF base driven by growth profile and D2C structural advantage. Primary valuation method is blended (50% DCF, 35% EV/EBITDA, 15% P/E). Weighted base = Rs. 44.4/sh.</a:t>
            </a:r>
            <a:endParaRPr lang="en-US" sz="680" dirty="0"/>
          </a:p>
        </p:txBody>
      </p:sp>
      <p:sp>
        <p:nvSpPr>
          <p:cNvPr id="81" name="Shape 7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 COMPANY ANALYSIS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Listed Peers  |  Peer Median EV/EBITDA 37x  |  Applied: 38x (+3% premium)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2542032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Mkt Cap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 (Rs.Cr)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Rev Gth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EBITDA Mg</a:t>
                      </a:r>
                      <a:endParaRPr lang="en-US" sz="8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Honasa (Mamaearth)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11,500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10,780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1,800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225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5.99x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47.9x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12.5%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Bikaji Foods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12,800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12,760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1,680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208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7.60x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61.3x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12.4%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Hindustan Foods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2,900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2,920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980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78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2.98x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37.4x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Emami Ltd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15,200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14,000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3,800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760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3.68x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18.4x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Patanjali Foods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7,400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7,170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3,600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324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1.99x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22.1x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Peer Median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3.68x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37.4x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15%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</a:rPr>
                        <a:t>12.4%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7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AURA Applied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291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37.8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A94A"/>
                          </a:solidFill>
                        </a:rPr>
                        <a:t>6.5x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A94A"/>
                          </a:solidFill>
                        </a:rPr>
                        <a:t>38.0x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A94A"/>
                          </a:solidFill>
                        </a:rPr>
                        <a:t>30%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9A94A"/>
                          </a:solidFill>
                        </a:rPr>
                        <a:t>13.0%</a:t>
                      </a:r>
                      <a:endParaRPr lang="en-US" sz="1200" dirty="0"/>
                    </a:p>
                  </a:txBody>
                  <a:tcPr>
                    <a:lnL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419856"/>
            <a:ext cx="8595360" cy="10698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4320" y="3419856"/>
            <a:ext cx="45720" cy="1069848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34472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DISCOUNT RATIONALE</a:t>
            </a:r>
            <a:endParaRPr lang="en-US" sz="900" dirty="0"/>
          </a:p>
        </p:txBody>
      </p:sp>
      <p:sp>
        <p:nvSpPr>
          <p:cNvPr id="7" name="Text 8"/>
          <p:cNvSpPr/>
          <p:nvPr/>
        </p:nvSpPr>
        <p:spPr>
          <a:xfrm>
            <a:off x="365760" y="3675888"/>
            <a:ext cx="8321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(1) Revenue CAGR 30% vs peer avg 15% — 2x sector growth; (2) 68% D2C = structural gross margin advantage +400-500bps; (3) NPS 72 vs FMCG avg 45 = brand loyalty moat; (4) Asset-light = higher FCF conversion.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DISCOUNT: (1) Smaller scale vs Mamaearth/Emami; (2) Founder concentration 61% (key-person risk); (3) Perishables cold-chain; (4) RED FLAG — Debt 91% CAGR vs rev 41% CAGR contradicts asset-light narrative.</a:t>
            </a:r>
            <a:endParaRPr lang="en-US" sz="780" dirty="0"/>
          </a:p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Applied EV/EBITDA 38x (~3% premium). EV/Revenue 6.5x. P/E 37x (at median). SUBSCRIBE at band Rs. 40–52.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MITIGANTS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4389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BB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assessment — bull, base, and bear perspectives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400800" y="438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CONFIDENTIAL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25196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251960" cy="2834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59536"/>
            <a:ext cx="4123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[HIGH]  Founder Concentration Risk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143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777240" y="1133856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Iyer holds 61% pre-IPO equity and is the public face of AURA. Key-person dependency is material. Any departure or distraction materially impairs brand and operations. Succession planning not yet formalised.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347472" y="1828800"/>
            <a:ext cx="4105656" cy="0"/>
          </a:xfrm>
          <a:prstGeom prst="line">
            <a:avLst/>
          </a:prstGeom>
          <a:noFill/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8928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70432" y="1883664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post-IPO lock-in provides near-term protection. Strong management bench (CFO Arjun Mehta with IB background). Board expansion post-IPO expected to add independent oversight.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425196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4251960" cy="283464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82312" y="859536"/>
            <a:ext cx="4123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[HIGH — RED FLAG]  Debt Growth vs Asset-Light Narrative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82312" y="114300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12080" y="1133856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Debt grew Rs. 22 Cr (FY22) to Rs. 42 Cr (FY24) — 91% CAGR, significantly faster than revenue CAGR of 41.4%. Management positions AURA as 'asset-light' yet leverage scaled faster than revenue — inconsistency raises quality-of-earnings questions.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782312" y="1828800"/>
            <a:ext cx="4105656" cy="0"/>
          </a:xfrm>
          <a:prstGeom prst="line">
            <a:avLst/>
          </a:prstGeom>
          <a:noFill/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82312" y="18928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05272" y="1883664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proceeds repay Rs. 30 Cr debt — post-IPO LTD drops to Rs. 12 Cr. Post-IPO interest coverage improves materially. Fixed asset growth (Rs. 65→112 Cr) provides partial explanation for debt deployment.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425196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4251960" cy="283464"/>
          </a:xfrm>
          <a:prstGeom prst="rect">
            <a:avLst/>
          </a:prstGeom>
          <a:solidFill>
            <a:srgbClr val="6B3A00"/>
          </a:solidFill>
          <a:ln w="12700">
            <a:solidFill>
              <a:srgbClr val="6B3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2889504"/>
            <a:ext cx="4123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[MEDIUM-HIGH]  Competitive Intensity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47472" y="31729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77240" y="3163824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 (NSE-listed), Yoga Bar (ITC-backed), and 1,200+ D2C wellness brands compete for the same urban consumer. Rising customer acquisition costs compressing unit economics sector-wide.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47472" y="3858768"/>
            <a:ext cx="4105656" cy="0"/>
          </a:xfrm>
          <a:prstGeom prst="line">
            <a:avLst/>
          </a:prstGeom>
          <a:noFill/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7472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170432" y="391363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72 (vs 45 industry) and 58% 3-year repeat purchase rate = natural brand loyalty moat. Premium positioning creates pricing buffer. R&amp;D pipeline adds product differentiation.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709160" y="2834640"/>
            <a:ext cx="4251960" cy="188366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C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9160" y="2834640"/>
            <a:ext cx="4251960" cy="283464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82312" y="2889504"/>
            <a:ext cx="4123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[MEDIUM]  Supply Chain &amp; Perishables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82312" y="317296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12080" y="3163824"/>
            <a:ext cx="3675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Cold-pressed juices have 3-5 day shelf life requiring sophisticated cold-chain logistics. Any disruption in Blinkit/Swiggy Instamart partnerships directly impacts revenue. Seasonal raw material cost volatility.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782312" y="3858768"/>
            <a:ext cx="4105656" cy="0"/>
          </a:xfrm>
          <a:prstGeom prst="line">
            <a:avLst/>
          </a:prstGeom>
          <a:noFill/>
          <a:ln w="6350">
            <a:solidFill>
              <a:srgbClr val="D8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782312" y="39227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05272" y="391363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diversified third-party logistics partners. 3-day safety stock at distribution hubs. 58% of revenue from non-perishable SKUs (bars, supplements) provides revenue floor.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41148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2801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SUMMARY &amp; FINAL RECOMMENDATION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49377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LUMINA  |  AURA Consumer Sciences Ltd  |  FinOrbits IB Simulation S1  |  April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FIELD VALUATION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15568"/>
            <a:ext cx="0" cy="2834640"/>
          </a:xfrm>
          <a:prstGeom prst="line">
            <a:avLst/>
          </a:prstGeom>
          <a:noFill/>
          <a:ln w="5080">
            <a:solidFill>
              <a:srgbClr val="1E30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" y="4005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Rs.20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1468120" y="1115568"/>
            <a:ext cx="0" cy="2834640"/>
          </a:xfrm>
          <a:prstGeom prst="line">
            <a:avLst/>
          </a:prstGeom>
          <a:noFill/>
          <a:ln w="5080">
            <a:solidFill>
              <a:srgbClr val="1E30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03528" y="4005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Rs.30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2616200" y="1115568"/>
            <a:ext cx="0" cy="2834640"/>
          </a:xfrm>
          <a:prstGeom prst="line">
            <a:avLst/>
          </a:prstGeom>
          <a:noFill/>
          <a:ln w="5080">
            <a:solidFill>
              <a:srgbClr val="1E30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1608" y="4005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Rs.40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764280" y="1115568"/>
            <a:ext cx="0" cy="2834640"/>
          </a:xfrm>
          <a:prstGeom prst="line">
            <a:avLst/>
          </a:prstGeom>
          <a:noFill/>
          <a:ln w="5080">
            <a:solidFill>
              <a:srgbClr val="1E30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99688" y="4005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Rs.50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912360" y="1115568"/>
            <a:ext cx="0" cy="2834640"/>
          </a:xfrm>
          <a:prstGeom prst="line">
            <a:avLst/>
          </a:prstGeom>
          <a:noFill/>
          <a:ln w="5080">
            <a:solidFill>
              <a:srgbClr val="1E306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47768" y="40050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Rs.60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1238504" y="1170432"/>
            <a:ext cx="2410968" cy="530352"/>
          </a:xfrm>
          <a:prstGeom prst="rect">
            <a:avLst/>
          </a:prstGeom>
          <a:solidFill>
            <a:srgbClr val="2E4E7A">
              <a:alpha val="85000"/>
            </a:srgbClr>
          </a:solidFill>
          <a:ln w="12700">
            <a:solidFill>
              <a:srgbClr val="2E4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78532" y="1124712"/>
            <a:ext cx="45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18512" y="17190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Rs.39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78384" y="132588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P/E Comps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82472" y="13258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070A0"/>
                </a:solidFill>
              </a:rPr>
              <a:t>Rs.28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667760" y="132588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070A0"/>
                </a:solidFill>
              </a:rPr>
              <a:t>Rs.49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1697736" y="1947672"/>
            <a:ext cx="2525776" cy="530352"/>
          </a:xfrm>
          <a:prstGeom prst="rect">
            <a:avLst/>
          </a:prstGeom>
          <a:solidFill>
            <a:srgbClr val="2F5496">
              <a:alpha val="85000"/>
            </a:srgbClr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052572" y="1901952"/>
            <a:ext cx="45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892552" y="249631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Rs.44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37616" y="21031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EV/EBITDA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441704" y="210312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070A0"/>
                </a:solidFill>
              </a:rPr>
              <a:t>Rs.32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4241800" y="210312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070A0"/>
                </a:solidFill>
              </a:rPr>
              <a:t>Rs.54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353312" y="2724912"/>
            <a:ext cx="803656" cy="530352"/>
          </a:xfrm>
          <a:prstGeom prst="rect">
            <a:avLst/>
          </a:prstGeom>
          <a:solidFill>
            <a:srgbClr val="1A3060">
              <a:alpha val="85000"/>
            </a:srgbClr>
          </a:solidFill>
          <a:ln w="12700">
            <a:solidFill>
              <a:srgbClr val="1A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674876" y="2679192"/>
            <a:ext cx="45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514856" y="32735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Rs.32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93192" y="2880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8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Model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97280" y="288036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070A0"/>
                </a:solidFill>
              </a:rPr>
              <a:t>Rs.29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175256" y="2880360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5070A0"/>
                </a:solidFill>
              </a:rPr>
              <a:t>Rs.36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2616200" y="1078992"/>
            <a:ext cx="1377696" cy="2944368"/>
          </a:xfrm>
          <a:prstGeom prst="rect">
            <a:avLst/>
          </a:prstGeom>
          <a:solidFill>
            <a:srgbClr val="4A90D9">
              <a:alpha val="22000"/>
            </a:srgbClr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16200" y="1115568"/>
            <a:ext cx="1377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40–52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7BB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5870448" y="777240"/>
            <a:ext cx="2971800" cy="3931920"/>
          </a:xfrm>
          <a:prstGeom prst="rect">
            <a:avLst/>
          </a:prstGeom>
          <a:solidFill>
            <a:srgbClr val="122040"/>
          </a:solidFill>
          <a:ln w="12700">
            <a:solidFill>
              <a:srgbClr val="2F5496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70448" y="777240"/>
            <a:ext cx="2971800" cy="45720"/>
          </a:xfrm>
          <a:prstGeom prst="rect">
            <a:avLst/>
          </a:prstGeom>
          <a:solidFill>
            <a:srgbClr val="C9A94A"/>
          </a:solidFill>
          <a:ln w="12700">
            <a:solidFill>
              <a:srgbClr val="C9A9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61888" y="8869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053328" y="1207008"/>
            <a:ext cx="2606040" cy="640080"/>
          </a:xfrm>
          <a:prstGeom prst="rect">
            <a:avLst/>
          </a:prstGeom>
          <a:solidFill>
            <a:srgbClr val="1A5C38"/>
          </a:solidFill>
          <a:ln w="12700">
            <a:solidFill>
              <a:srgbClr val="1A5C3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53328" y="125272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961888" y="195681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Band: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7150608" y="19568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40 – Rs. 52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61888" y="22494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Mid-Band:</a:t>
            </a:r>
            <a:endParaRPr lang="en-US" sz="780" dirty="0"/>
          </a:p>
        </p:txBody>
      </p:sp>
      <p:sp>
        <p:nvSpPr>
          <p:cNvPr id="46" name="Text 44"/>
          <p:cNvSpPr/>
          <p:nvPr/>
        </p:nvSpPr>
        <p:spPr>
          <a:xfrm>
            <a:off x="7150608" y="224942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61888" y="2542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Wtd. Base Case: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7150608" y="254203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44.4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961888" y="2834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Upside (Base):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7150608" y="283464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61888" y="31272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Case:</a:t>
            </a:r>
            <a:endParaRPr lang="en-US" sz="780" dirty="0"/>
          </a:p>
        </p:txBody>
      </p:sp>
      <p:sp>
        <p:nvSpPr>
          <p:cNvPr id="52" name="Text 50"/>
          <p:cNvSpPr/>
          <p:nvPr/>
        </p:nvSpPr>
        <p:spPr>
          <a:xfrm>
            <a:off x="7150608" y="312724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55 (Tier-2 success)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61888" y="3419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Case: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7150608" y="34198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29-36 (DCF only)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61888" y="37124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Horizon:</a:t>
            </a:r>
            <a:endParaRPr lang="en-US" sz="780" dirty="0"/>
          </a:p>
        </p:txBody>
      </p:sp>
      <p:sp>
        <p:nvSpPr>
          <p:cNvPr id="56" name="Text 54"/>
          <p:cNvSpPr/>
          <p:nvPr/>
        </p:nvSpPr>
        <p:spPr>
          <a:xfrm>
            <a:off x="7150608" y="3712464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61888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0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Flag:</a:t>
            </a:r>
            <a:endParaRPr lang="en-US" sz="780" dirty="0"/>
          </a:p>
        </p:txBody>
      </p:sp>
      <p:sp>
        <p:nvSpPr>
          <p:cNvPr id="58" name="Text 56"/>
          <p:cNvSpPr/>
          <p:nvPr/>
        </p:nvSpPr>
        <p:spPr>
          <a:xfrm>
            <a:off x="7150608" y="40050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debt trajectory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961888" y="4453128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i="1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DCF + 35% EV/EBITDA + 15% P/E</a:t>
            </a:r>
            <a:endParaRPr lang="en-US" sz="680" dirty="0"/>
          </a:p>
        </p:txBody>
      </p:sp>
      <p:sp>
        <p:nvSpPr>
          <p:cNvPr id="60" name="Shape 5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74320" y="4974336"/>
            <a:ext cx="6858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07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EDUCATIONAL PURPOSES ONLY  |  FinOrbits IB Simulation Season 1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8823960" y="4974336"/>
            <a:ext cx="256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MUKUL SUYAL 23GSOB1230098</cp:lastModifiedBy>
  <cp:revision>2</cp:revision>
  <dcterms:created xsi:type="dcterms:W3CDTF">2026-04-13T05:58:41Z</dcterms:created>
  <dcterms:modified xsi:type="dcterms:W3CDTF">2026-04-13T06:14:13Z</dcterms:modified>
</cp:coreProperties>
</file>